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759"/>
    <p:restoredTop sz="96327"/>
  </p:normalViewPr>
  <p:slideViewPr>
    <p:cSldViewPr snapToGrid="0" snapToObjects="1">
      <p:cViewPr>
        <p:scale>
          <a:sx n="131" d="100"/>
          <a:sy n="131" d="100"/>
        </p:scale>
        <p:origin x="-2504" y="-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CA2A-F9A5-7649-9438-9095F1AA2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EA124-A677-4E48-A30B-B38607DC0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BA02-98F4-E749-B0AA-5E8711D6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5C4D4-6F08-BB4A-9DD5-08A10256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386A0-07C2-7641-8D25-7272589A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7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F16A-0D11-C94D-B83A-802B9493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E534B-2646-A149-950D-1856E4DA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1A1D4-8B80-1F43-B719-3944402D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A68B7-00ED-714D-8DE3-4CFBD652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C7FE0-AF32-6B47-BDD8-22368B99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56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7366-D965-FD45-9701-01C15CDE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9EEBB-212E-494E-9738-836D7B127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05E5-BB75-D847-8539-EACC16B6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54703-1EB7-C242-A0B3-F359C143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4D57-83F9-FB4A-919B-2268B5CE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6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8DB0-F0ED-BD4A-89B3-B26C5676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C7169-2246-9742-83D7-98C5EB6BF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BA90F-A20A-EC45-A707-B27C72C09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4EEB8-AE07-444D-A702-19CFEC7C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7E5D5-9029-5D41-B988-CCAA96F5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8FE14-55A6-A642-B693-14F768E0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5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1F0B-0B56-FB4E-92B4-6B0A3BAF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4793F-F9E4-E540-BEE4-77AE3B8D0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6411F-C3ED-1E42-9AB4-D1A14DCCE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3C7DA-4E01-3142-8744-4341A5FC2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6FB29-BC93-514F-A661-DA8A09797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0A1A2-4595-324D-9558-ABFD2828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C13CE-15F8-944B-B928-64D8DB55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AB98F-0505-1F4A-A7C0-6516814B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4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E14A-DE53-374F-978A-013BC71C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DCC46-64D2-7C48-AF7C-AA8BCFE4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C785B-5DA5-3948-9CEE-B447EF05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80231-8B28-604D-B886-67387B40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2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95135-0655-0B47-8955-72BF545B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F221B-BB51-AC47-8B96-C1117F31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6ED9D-41A1-2445-A42E-32F5A12D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434B-47D0-DA47-89B5-94FF8616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443C8-9A5C-FF4D-8861-712610BF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E63B4-9BA6-C94A-B1C7-2C8D4611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B2BC2-D6E1-FA47-8BCC-BA3341E7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14B7A-5838-0C4C-A1DB-304A8A62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B6E6B-64EE-044D-B39D-6D9A353B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6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6B41-3089-6F4E-9634-441C16DC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12295-A6BA-FA48-896C-813BA79C7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E009-5E62-FA41-883E-244312ECE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7828F-F608-CA44-90E9-2A64363B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1084B-9925-F04E-B295-4B6B3732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1866E-846E-294E-BAAA-0B28D17F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805E-23B8-6F4C-BB6B-3C97A8C7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5A458-232C-2549-82BE-72F9BC356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2016D-1926-2643-9FCB-A172C1E8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69220-8ED7-E14C-A93C-4CC25E43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9D0DA-2F23-A042-85FD-F3691122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7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9D3BC-1B04-D846-BB51-CD73E9B93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6FC85-FA94-9D4F-9491-37CA4A6D8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0564C-ADBC-004D-99BA-2E9396B2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5B4F-1ECB-E446-BBC9-E6DEFA9C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8DC8A-80FA-4146-A7FC-BDBB802A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9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45405-9FC7-3F4A-B962-EF999A4A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91EE2-C628-7C4A-91F4-CE62ABCC1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5AC62-34C0-8844-9CDB-2687E0461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F405-9306-AE4F-A7A9-F13719A4B1AA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22C0D-1040-884C-AE3A-49E50919D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94476-C101-224A-91B3-CE4507793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B1162-6412-D642-9F94-F0027DAA7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DA46-11CA-AF47-AFDF-9C0A14AF3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BI Diagrams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18204-F333-4E42-8354-0B114765F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4B7D-4A66-7046-B7A3-38E645E2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452" y="617530"/>
            <a:ext cx="4164726" cy="85578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Modern BI Architecture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43B8126-5152-1E4B-862F-0DCF30EDAF26}"/>
              </a:ext>
            </a:extLst>
          </p:cNvPr>
          <p:cNvGrpSpPr/>
          <p:nvPr/>
        </p:nvGrpSpPr>
        <p:grpSpPr>
          <a:xfrm>
            <a:off x="3535044" y="926631"/>
            <a:ext cx="2067591" cy="3653290"/>
            <a:chOff x="3097894" y="944464"/>
            <a:chExt cx="2067591" cy="36532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854D2D4-F682-DB48-8DCA-DDAB74F7828B}"/>
                </a:ext>
              </a:extLst>
            </p:cNvPr>
            <p:cNvSpPr txBox="1"/>
            <p:nvPr/>
          </p:nvSpPr>
          <p:spPr>
            <a:xfrm>
              <a:off x="3276555" y="1102958"/>
              <a:ext cx="18889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Enterprise Business Data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193408A-B63F-E943-A18F-65A23FE3A46C}"/>
                </a:ext>
              </a:extLst>
            </p:cNvPr>
            <p:cNvGrpSpPr/>
            <p:nvPr/>
          </p:nvGrpSpPr>
          <p:grpSpPr>
            <a:xfrm>
              <a:off x="3328044" y="1861465"/>
              <a:ext cx="1218013" cy="324884"/>
              <a:chOff x="2422908" y="2560445"/>
              <a:chExt cx="1218013" cy="324884"/>
            </a:xfrm>
          </p:grpSpPr>
          <p:sp>
            <p:nvSpPr>
              <p:cNvPr id="4" name="Can 3">
                <a:extLst>
                  <a:ext uri="{FF2B5EF4-FFF2-40B4-BE49-F238E27FC236}">
                    <a16:creationId xmlns:a16="http://schemas.microsoft.com/office/drawing/2014/main" id="{767473AA-B525-AD49-B34E-17EBFBDC9406}"/>
                  </a:ext>
                </a:extLst>
              </p:cNvPr>
              <p:cNvSpPr/>
              <p:nvPr/>
            </p:nvSpPr>
            <p:spPr>
              <a:xfrm>
                <a:off x="2422908" y="2560445"/>
                <a:ext cx="1218013" cy="29246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DB51B1-1E2D-F849-A4CB-FB888E33B7B1}"/>
                  </a:ext>
                </a:extLst>
              </p:cNvPr>
              <p:cNvSpPr txBox="1"/>
              <p:nvPr/>
            </p:nvSpPr>
            <p:spPr>
              <a:xfrm>
                <a:off x="2803512" y="2577552"/>
                <a:ext cx="5549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Sales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EA487FA-81BF-CB4B-A4A0-00154B35F1CC}"/>
                </a:ext>
              </a:extLst>
            </p:cNvPr>
            <p:cNvGrpSpPr/>
            <p:nvPr/>
          </p:nvGrpSpPr>
          <p:grpSpPr>
            <a:xfrm>
              <a:off x="3323424" y="3852982"/>
              <a:ext cx="1552993" cy="709433"/>
              <a:chOff x="3403204" y="3993409"/>
              <a:chExt cx="1552993" cy="709433"/>
            </a:xfrm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7AFA193C-B517-2D4C-8DC7-EACE801EDB0E}"/>
                  </a:ext>
                </a:extLst>
              </p:cNvPr>
              <p:cNvSpPr/>
              <p:nvPr/>
            </p:nvSpPr>
            <p:spPr>
              <a:xfrm rot="5400000">
                <a:off x="3995710" y="4068540"/>
                <a:ext cx="401656" cy="251393"/>
              </a:xfrm>
              <a:prstGeom prst="triangl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2CFFF6A-C72F-344F-A5FB-28FD6EF3EEE5}"/>
                  </a:ext>
                </a:extLst>
              </p:cNvPr>
              <p:cNvCxnSpPr>
                <a:cxnSpLocks/>
                <a:endCxn id="15" idx="3"/>
              </p:cNvCxnSpPr>
              <p:nvPr/>
            </p:nvCxnSpPr>
            <p:spPr>
              <a:xfrm>
                <a:off x="3715630" y="4194237"/>
                <a:ext cx="355212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1E0C71-1BFC-AC4B-B985-667A4548A830}"/>
                  </a:ext>
                </a:extLst>
              </p:cNvPr>
              <p:cNvSpPr txBox="1"/>
              <p:nvPr/>
            </p:nvSpPr>
            <p:spPr>
              <a:xfrm>
                <a:off x="3403204" y="4395065"/>
                <a:ext cx="15529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Real-Time Stream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94C1C04-BC9C-3F40-98B3-185493156A24}"/>
                </a:ext>
              </a:extLst>
            </p:cNvPr>
            <p:cNvGrpSpPr/>
            <p:nvPr/>
          </p:nvGrpSpPr>
          <p:grpSpPr>
            <a:xfrm>
              <a:off x="3326738" y="2250716"/>
              <a:ext cx="1218013" cy="327152"/>
              <a:chOff x="2461357" y="2538722"/>
              <a:chExt cx="1218013" cy="327152"/>
            </a:xfrm>
          </p:grpSpPr>
          <p:sp>
            <p:nvSpPr>
              <p:cNvPr id="26" name="Can 25">
                <a:extLst>
                  <a:ext uri="{FF2B5EF4-FFF2-40B4-BE49-F238E27FC236}">
                    <a16:creationId xmlns:a16="http://schemas.microsoft.com/office/drawing/2014/main" id="{C78F57F3-86C6-0C43-AEC7-51525598E446}"/>
                  </a:ext>
                </a:extLst>
              </p:cNvPr>
              <p:cNvSpPr/>
              <p:nvPr/>
            </p:nvSpPr>
            <p:spPr>
              <a:xfrm>
                <a:off x="2461357" y="2538722"/>
                <a:ext cx="1218013" cy="29246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A2D61C-0433-2342-9DBE-11FDE474904E}"/>
                  </a:ext>
                </a:extLst>
              </p:cNvPr>
              <p:cNvSpPr txBox="1"/>
              <p:nvPr/>
            </p:nvSpPr>
            <p:spPr>
              <a:xfrm>
                <a:off x="2725692" y="2558097"/>
                <a:ext cx="7489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Finance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FB4F67A-A584-764C-8C05-925A5CB80A08}"/>
                </a:ext>
              </a:extLst>
            </p:cNvPr>
            <p:cNvGrpSpPr/>
            <p:nvPr/>
          </p:nvGrpSpPr>
          <p:grpSpPr>
            <a:xfrm>
              <a:off x="3324239" y="2625532"/>
              <a:ext cx="1218013" cy="346607"/>
              <a:chOff x="2461357" y="2538722"/>
              <a:chExt cx="1218013" cy="346607"/>
            </a:xfrm>
          </p:grpSpPr>
          <p:sp>
            <p:nvSpPr>
              <p:cNvPr id="29" name="Can 28">
                <a:extLst>
                  <a:ext uri="{FF2B5EF4-FFF2-40B4-BE49-F238E27FC236}">
                    <a16:creationId xmlns:a16="http://schemas.microsoft.com/office/drawing/2014/main" id="{D797AC3B-9BB3-9944-B12F-6F9C1D95DBBC}"/>
                  </a:ext>
                </a:extLst>
              </p:cNvPr>
              <p:cNvSpPr/>
              <p:nvPr/>
            </p:nvSpPr>
            <p:spPr>
              <a:xfrm>
                <a:off x="2461357" y="2538722"/>
                <a:ext cx="1218013" cy="29246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FE8250-B2D1-CF43-9528-7A1465167C13}"/>
                  </a:ext>
                </a:extLst>
              </p:cNvPr>
              <p:cNvSpPr txBox="1"/>
              <p:nvPr/>
            </p:nvSpPr>
            <p:spPr>
              <a:xfrm>
                <a:off x="2803512" y="2577552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ERP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AB5CB3F-84B3-FF44-BB1E-7F97B0FDCFEE}"/>
                </a:ext>
              </a:extLst>
            </p:cNvPr>
            <p:cNvGrpSpPr/>
            <p:nvPr/>
          </p:nvGrpSpPr>
          <p:grpSpPr>
            <a:xfrm>
              <a:off x="3319511" y="3045847"/>
              <a:ext cx="1218013" cy="327152"/>
              <a:chOff x="2461357" y="2538722"/>
              <a:chExt cx="1218013" cy="327152"/>
            </a:xfrm>
          </p:grpSpPr>
          <p:sp>
            <p:nvSpPr>
              <p:cNvPr id="40" name="Can 39">
                <a:extLst>
                  <a:ext uri="{FF2B5EF4-FFF2-40B4-BE49-F238E27FC236}">
                    <a16:creationId xmlns:a16="http://schemas.microsoft.com/office/drawing/2014/main" id="{7BB8E7FB-FAB8-4E46-810D-3F9CC2CDADD6}"/>
                  </a:ext>
                </a:extLst>
              </p:cNvPr>
              <p:cNvSpPr/>
              <p:nvPr/>
            </p:nvSpPr>
            <p:spPr>
              <a:xfrm>
                <a:off x="2461357" y="2538722"/>
                <a:ext cx="1218013" cy="29246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9703CA-F625-9243-BFE3-FA1D47193AA8}"/>
                  </a:ext>
                </a:extLst>
              </p:cNvPr>
              <p:cNvSpPr txBox="1"/>
              <p:nvPr/>
            </p:nvSpPr>
            <p:spPr>
              <a:xfrm>
                <a:off x="2706237" y="2558097"/>
                <a:ext cx="7950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OLTP DB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86EC63D-0A62-CE42-B631-61CD86DE7698}"/>
                </a:ext>
              </a:extLst>
            </p:cNvPr>
            <p:cNvGrpSpPr/>
            <p:nvPr/>
          </p:nvGrpSpPr>
          <p:grpSpPr>
            <a:xfrm>
              <a:off x="3319510" y="3501002"/>
              <a:ext cx="1218013" cy="346607"/>
              <a:chOff x="2461357" y="2538722"/>
              <a:chExt cx="1218013" cy="346607"/>
            </a:xfrm>
          </p:grpSpPr>
          <p:sp>
            <p:nvSpPr>
              <p:cNvPr id="46" name="Can 45">
                <a:extLst>
                  <a:ext uri="{FF2B5EF4-FFF2-40B4-BE49-F238E27FC236}">
                    <a16:creationId xmlns:a16="http://schemas.microsoft.com/office/drawing/2014/main" id="{246016AE-73E3-1A4A-844A-4F386AAEB6BA}"/>
                  </a:ext>
                </a:extLst>
              </p:cNvPr>
              <p:cNvSpPr/>
              <p:nvPr/>
            </p:nvSpPr>
            <p:spPr>
              <a:xfrm>
                <a:off x="2461357" y="2538722"/>
                <a:ext cx="1218013" cy="29246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FEA0BA9-D600-6C4E-B368-78A17C728B95}"/>
                  </a:ext>
                </a:extLst>
              </p:cNvPr>
              <p:cNvSpPr txBox="1"/>
              <p:nvPr/>
            </p:nvSpPr>
            <p:spPr>
              <a:xfrm>
                <a:off x="2725692" y="2577552"/>
                <a:ext cx="8193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Flat Files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3242038-18D1-7E4B-ACAD-BE052DCC7308}"/>
                </a:ext>
              </a:extLst>
            </p:cNvPr>
            <p:cNvSpPr/>
            <p:nvPr/>
          </p:nvSpPr>
          <p:spPr>
            <a:xfrm>
              <a:off x="3097894" y="944464"/>
              <a:ext cx="1804618" cy="36532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09388B4-3A7A-5743-850B-1C16AFCC3604}"/>
              </a:ext>
            </a:extLst>
          </p:cNvPr>
          <p:cNvSpPr/>
          <p:nvPr/>
        </p:nvSpPr>
        <p:spPr>
          <a:xfrm>
            <a:off x="1059621" y="6001901"/>
            <a:ext cx="10543498" cy="582020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B373F6E-49DC-E14E-9CB4-1A4D4426A216}"/>
              </a:ext>
            </a:extLst>
          </p:cNvPr>
          <p:cNvGrpSpPr/>
          <p:nvPr/>
        </p:nvGrpSpPr>
        <p:grpSpPr>
          <a:xfrm>
            <a:off x="6377885" y="3036323"/>
            <a:ext cx="2076448" cy="914400"/>
            <a:chOff x="5494247" y="3293927"/>
            <a:chExt cx="2076448" cy="91440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999ED8F-B41F-8445-BC5E-86470B6830D3}"/>
                </a:ext>
              </a:extLst>
            </p:cNvPr>
            <p:cNvSpPr txBox="1"/>
            <p:nvPr/>
          </p:nvSpPr>
          <p:spPr>
            <a:xfrm>
              <a:off x="6846181" y="358185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ETL</a:t>
              </a:r>
            </a:p>
          </p:txBody>
        </p:sp>
        <p:pic>
          <p:nvPicPr>
            <p:cNvPr id="57" name="Graphic 56" descr="Single gear with solid fill">
              <a:extLst>
                <a:ext uri="{FF2B5EF4-FFF2-40B4-BE49-F238E27FC236}">
                  <a16:creationId xmlns:a16="http://schemas.microsoft.com/office/drawing/2014/main" id="{B9BF8D06-F1FA-554A-9F14-5FABA783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58275" y="3293927"/>
              <a:ext cx="914400" cy="914400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172DB15-A71D-BC42-A014-78DF0F043AAB}"/>
                </a:ext>
              </a:extLst>
            </p:cNvPr>
            <p:cNvSpPr/>
            <p:nvPr/>
          </p:nvSpPr>
          <p:spPr>
            <a:xfrm>
              <a:off x="5494247" y="3296826"/>
              <a:ext cx="2076448" cy="911501"/>
            </a:xfrm>
            <a:prstGeom prst="rect">
              <a:avLst/>
            </a:pr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BD98C3-4E1A-9949-8816-1BB6B2D3AAD0}"/>
              </a:ext>
            </a:extLst>
          </p:cNvPr>
          <p:cNvGrpSpPr/>
          <p:nvPr/>
        </p:nvGrpSpPr>
        <p:grpSpPr>
          <a:xfrm>
            <a:off x="6336818" y="1411990"/>
            <a:ext cx="2043417" cy="1237021"/>
            <a:chOff x="5506140" y="1974065"/>
            <a:chExt cx="2043417" cy="123702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69DEAEF-CBA4-9748-B89A-AD45EA0BA2E2}"/>
                </a:ext>
              </a:extLst>
            </p:cNvPr>
            <p:cNvGrpSpPr/>
            <p:nvPr/>
          </p:nvGrpSpPr>
          <p:grpSpPr>
            <a:xfrm>
              <a:off x="5780486" y="1974065"/>
              <a:ext cx="1580264" cy="1190133"/>
              <a:chOff x="6491132" y="2608569"/>
              <a:chExt cx="1580264" cy="1190133"/>
            </a:xfrm>
          </p:grpSpPr>
          <p:sp>
            <p:nvSpPr>
              <p:cNvPr id="43" name="Can 42">
                <a:extLst>
                  <a:ext uri="{FF2B5EF4-FFF2-40B4-BE49-F238E27FC236}">
                    <a16:creationId xmlns:a16="http://schemas.microsoft.com/office/drawing/2014/main" id="{300DB4B7-DF66-A341-A55B-529D6A717909}"/>
                  </a:ext>
                </a:extLst>
              </p:cNvPr>
              <p:cNvSpPr/>
              <p:nvPr/>
            </p:nvSpPr>
            <p:spPr>
              <a:xfrm>
                <a:off x="6491132" y="3207690"/>
                <a:ext cx="1489273" cy="591012"/>
              </a:xfrm>
              <a:prstGeom prst="can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B510AAA-737E-244A-AB51-EF036EA7D3EC}"/>
                  </a:ext>
                </a:extLst>
              </p:cNvPr>
              <p:cNvSpPr txBox="1"/>
              <p:nvPr/>
            </p:nvSpPr>
            <p:spPr>
              <a:xfrm>
                <a:off x="6495517" y="2608569"/>
                <a:ext cx="157587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Enterprise Data Warehouse</a:t>
                </a:r>
              </a:p>
            </p:txBody>
          </p:sp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C91E340-7CC4-9641-BE41-3D263F8E5FAA}"/>
                </a:ext>
              </a:extLst>
            </p:cNvPr>
            <p:cNvSpPr/>
            <p:nvPr/>
          </p:nvSpPr>
          <p:spPr>
            <a:xfrm>
              <a:off x="5506140" y="1974065"/>
              <a:ext cx="2043417" cy="1237021"/>
            </a:xfrm>
            <a:prstGeom prst="rect">
              <a:avLst/>
            </a:pr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0F91EE8-3539-4C4B-ADD7-0A755DF67E6E}"/>
              </a:ext>
            </a:extLst>
          </p:cNvPr>
          <p:cNvGrpSpPr/>
          <p:nvPr/>
        </p:nvGrpSpPr>
        <p:grpSpPr>
          <a:xfrm>
            <a:off x="9201354" y="2558314"/>
            <a:ext cx="2401765" cy="1661817"/>
            <a:chOff x="7998261" y="2249572"/>
            <a:chExt cx="2401765" cy="1661817"/>
          </a:xfrm>
        </p:grpSpPr>
        <p:pic>
          <p:nvPicPr>
            <p:cNvPr id="87" name="Graphic 86" descr="Bar graph with upward trend with solid fill">
              <a:extLst>
                <a:ext uri="{FF2B5EF4-FFF2-40B4-BE49-F238E27FC236}">
                  <a16:creationId xmlns:a16="http://schemas.microsoft.com/office/drawing/2014/main" id="{6564F5EB-EDDF-8541-AB38-4A477B741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26831" y="2605947"/>
              <a:ext cx="914400" cy="914400"/>
            </a:xfrm>
            <a:prstGeom prst="rect">
              <a:avLst/>
            </a:prstGeom>
          </p:spPr>
        </p:pic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98D4BCD-AD3C-1D4C-8315-6FFA19FC8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1796" y="2620190"/>
              <a:ext cx="870" cy="949536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F7065F6-6FF3-994C-B2BF-B59EB77E58FF}"/>
                </a:ext>
              </a:extLst>
            </p:cNvPr>
            <p:cNvSpPr/>
            <p:nvPr/>
          </p:nvSpPr>
          <p:spPr>
            <a:xfrm>
              <a:off x="7998261" y="2285652"/>
              <a:ext cx="2401765" cy="1625737"/>
            </a:xfrm>
            <a:prstGeom prst="rect">
              <a:avLst/>
            </a:pr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75495A6-28A8-844B-93D3-EEC87B6B2E26}"/>
                </a:ext>
              </a:extLst>
            </p:cNvPr>
            <p:cNvSpPr txBox="1"/>
            <p:nvPr/>
          </p:nvSpPr>
          <p:spPr>
            <a:xfrm>
              <a:off x="8289236" y="2249572"/>
              <a:ext cx="14415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/>
                <a:t>BI Reporting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A0D310E-D251-904B-AA80-C6CA53EE0482}"/>
                </a:ext>
              </a:extLst>
            </p:cNvPr>
            <p:cNvSpPr txBox="1"/>
            <p:nvPr/>
          </p:nvSpPr>
          <p:spPr>
            <a:xfrm>
              <a:off x="7998261" y="3583669"/>
              <a:ext cx="118395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Query Engine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F3F824F-6B49-904B-9C13-1757CF4A9B47}"/>
                </a:ext>
              </a:extLst>
            </p:cNvPr>
            <p:cNvSpPr txBox="1"/>
            <p:nvPr/>
          </p:nvSpPr>
          <p:spPr>
            <a:xfrm>
              <a:off x="8940958" y="3396786"/>
              <a:ext cx="11933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Visualization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AA67065-27CB-4E43-84EF-0C1A2BDCE8C1}"/>
              </a:ext>
            </a:extLst>
          </p:cNvPr>
          <p:cNvGrpSpPr/>
          <p:nvPr/>
        </p:nvGrpSpPr>
        <p:grpSpPr>
          <a:xfrm>
            <a:off x="7789810" y="4426155"/>
            <a:ext cx="2568181" cy="1379534"/>
            <a:chOff x="8256623" y="4011630"/>
            <a:chExt cx="2568181" cy="137953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4DC9CA4-CD20-1A48-BBED-A6E5CF43C1AB}"/>
                </a:ext>
              </a:extLst>
            </p:cNvPr>
            <p:cNvSpPr/>
            <p:nvPr/>
          </p:nvSpPr>
          <p:spPr>
            <a:xfrm>
              <a:off x="8256623" y="4054242"/>
              <a:ext cx="2435622" cy="1336922"/>
            </a:xfrm>
            <a:prstGeom prst="rect">
              <a:avLst/>
            </a:pr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Graphic 79" descr="Head with gears with solid fill">
              <a:extLst>
                <a:ext uri="{FF2B5EF4-FFF2-40B4-BE49-F238E27FC236}">
                  <a16:creationId xmlns:a16="http://schemas.microsoft.com/office/drawing/2014/main" id="{D26B45DD-B0F9-3044-9967-E18368B0C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33570" y="4580140"/>
              <a:ext cx="731648" cy="731648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AC9A7DF-C92B-0A43-8658-E69372E3E5D5}"/>
                </a:ext>
              </a:extLst>
            </p:cNvPr>
            <p:cNvSpPr txBox="1"/>
            <p:nvPr/>
          </p:nvSpPr>
          <p:spPr>
            <a:xfrm>
              <a:off x="8453123" y="4011630"/>
              <a:ext cx="23716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Artificial Intelligence and Machine Learning</a:t>
              </a:r>
              <a:endParaRPr lang="en-US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96C2192-A55E-D943-8EF5-2BF942616CFF}"/>
                </a:ext>
              </a:extLst>
            </p:cNvPr>
            <p:cNvSpPr txBox="1"/>
            <p:nvPr/>
          </p:nvSpPr>
          <p:spPr>
            <a:xfrm>
              <a:off x="9059798" y="4516179"/>
              <a:ext cx="15685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Predictive</a:t>
              </a:r>
            </a:p>
            <a:p>
              <a:r>
                <a:rPr lang="en-US" sz="1200" dirty="0"/>
                <a:t>NLP/Natural Language</a:t>
              </a:r>
            </a:p>
            <a:p>
              <a:r>
                <a:rPr lang="en-US" sz="1200" dirty="0"/>
                <a:t>Computer Vision</a:t>
              </a:r>
            </a:p>
            <a:p>
              <a:r>
                <a:rPr lang="en-US" sz="1200" dirty="0"/>
                <a:t>Cognitive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5987F6B3-353C-2847-BDAA-166692DF15F5}"/>
              </a:ext>
            </a:extLst>
          </p:cNvPr>
          <p:cNvSpPr txBox="1"/>
          <p:nvPr/>
        </p:nvSpPr>
        <p:spPr>
          <a:xfrm>
            <a:off x="9312974" y="1340021"/>
            <a:ext cx="2116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Smart Applications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6DF06EB-E1BA-9940-B5EC-3BFD6F3D30D9}"/>
              </a:ext>
            </a:extLst>
          </p:cNvPr>
          <p:cNvSpPr/>
          <p:nvPr/>
        </p:nvSpPr>
        <p:spPr>
          <a:xfrm>
            <a:off x="9201355" y="1373712"/>
            <a:ext cx="2401764" cy="1043800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96FFAD3-4F81-8348-826F-D0EB0116CC8A}"/>
              </a:ext>
            </a:extLst>
          </p:cNvPr>
          <p:cNvSpPr txBox="1"/>
          <p:nvPr/>
        </p:nvSpPr>
        <p:spPr>
          <a:xfrm>
            <a:off x="7374452" y="6082089"/>
            <a:ext cx="3928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Governance, Metadata, and Security</a:t>
            </a:r>
          </a:p>
        </p:txBody>
      </p:sp>
      <p:pic>
        <p:nvPicPr>
          <p:cNvPr id="110" name="Graphic 109" descr="Smart Phone with solid fill">
            <a:extLst>
              <a:ext uri="{FF2B5EF4-FFF2-40B4-BE49-F238E27FC236}">
                <a16:creationId xmlns:a16="http://schemas.microsoft.com/office/drawing/2014/main" id="{1E5B2951-78B1-534C-91EE-AA364FB2CD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237633">
            <a:off x="9966352" y="1713700"/>
            <a:ext cx="648472" cy="648472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C22AE68B-FA6D-0945-9659-35CE6CCA664F}"/>
              </a:ext>
            </a:extLst>
          </p:cNvPr>
          <p:cNvSpPr/>
          <p:nvPr/>
        </p:nvSpPr>
        <p:spPr>
          <a:xfrm>
            <a:off x="6157494" y="744281"/>
            <a:ext cx="5823494" cy="5922493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C183557-AE80-5942-AC1B-D28F8D0DF326}"/>
              </a:ext>
            </a:extLst>
          </p:cNvPr>
          <p:cNvGrpSpPr/>
          <p:nvPr/>
        </p:nvGrpSpPr>
        <p:grpSpPr>
          <a:xfrm>
            <a:off x="1059621" y="896696"/>
            <a:ext cx="1945468" cy="4879408"/>
            <a:chOff x="1059621" y="896696"/>
            <a:chExt cx="1945468" cy="487940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99F1310-88E4-164B-8CBB-CD3DBF1A6DB0}"/>
                </a:ext>
              </a:extLst>
            </p:cNvPr>
            <p:cNvSpPr txBox="1"/>
            <p:nvPr/>
          </p:nvSpPr>
          <p:spPr>
            <a:xfrm>
              <a:off x="1847737" y="4573335"/>
              <a:ext cx="1157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Online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F07E3C-E7D1-EC48-BE3F-1B95F0C9E261}"/>
                </a:ext>
              </a:extLst>
            </p:cNvPr>
            <p:cNvSpPr txBox="1"/>
            <p:nvPr/>
          </p:nvSpPr>
          <p:spPr>
            <a:xfrm>
              <a:off x="1837551" y="5109557"/>
              <a:ext cx="9789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IoT</a:t>
              </a:r>
            </a:p>
            <a:p>
              <a:r>
                <a:rPr lang="en-US" sz="1600" dirty="0"/>
                <a:t>sensors</a:t>
              </a:r>
              <a:endParaRPr lang="en-US" sz="2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389E823-2673-6A4F-A380-BA9DA8D3545E}"/>
                </a:ext>
              </a:extLst>
            </p:cNvPr>
            <p:cNvSpPr txBox="1"/>
            <p:nvPr/>
          </p:nvSpPr>
          <p:spPr>
            <a:xfrm>
              <a:off x="1768068" y="1789394"/>
              <a:ext cx="11811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Retail</a:t>
              </a:r>
            </a:p>
            <a:p>
              <a:r>
                <a:rPr lang="en-US" sz="1600" dirty="0"/>
                <a:t>Operations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5372160-B6AC-E647-BD5F-F2B090A8C323}"/>
                </a:ext>
              </a:extLst>
            </p:cNvPr>
            <p:cNvSpPr txBox="1"/>
            <p:nvPr/>
          </p:nvSpPr>
          <p:spPr>
            <a:xfrm>
              <a:off x="1327848" y="2850627"/>
              <a:ext cx="1530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Manufacturing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099B7D-5C39-F143-9D39-E70CF2C201F0}"/>
                </a:ext>
              </a:extLst>
            </p:cNvPr>
            <p:cNvSpPr txBox="1"/>
            <p:nvPr/>
          </p:nvSpPr>
          <p:spPr>
            <a:xfrm>
              <a:off x="1785108" y="3310233"/>
              <a:ext cx="1078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Suppliers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3895AD6-BED6-BA4E-94B6-E8E8D0404EA9}"/>
                </a:ext>
              </a:extLst>
            </p:cNvPr>
            <p:cNvSpPr txBox="1"/>
            <p:nvPr/>
          </p:nvSpPr>
          <p:spPr>
            <a:xfrm>
              <a:off x="1286768" y="920667"/>
              <a:ext cx="14439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/>
                <a:t>Business Operations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CC1C498-A725-DE4F-869A-C775E77CF7E1}"/>
                </a:ext>
              </a:extLst>
            </p:cNvPr>
            <p:cNvSpPr/>
            <p:nvPr/>
          </p:nvSpPr>
          <p:spPr>
            <a:xfrm>
              <a:off x="1059621" y="896696"/>
              <a:ext cx="1804618" cy="48794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D0BB1C0-D058-B347-BCD3-B62D54013B7F}"/>
                </a:ext>
              </a:extLst>
            </p:cNvPr>
            <p:cNvSpPr txBox="1"/>
            <p:nvPr/>
          </p:nvSpPr>
          <p:spPr>
            <a:xfrm>
              <a:off x="1904349" y="3940639"/>
              <a:ext cx="1078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Logistics</a:t>
              </a:r>
            </a:p>
          </p:txBody>
        </p:sp>
        <p:pic>
          <p:nvPicPr>
            <p:cNvPr id="123" name="Graphic 122" descr="Store outline">
              <a:extLst>
                <a:ext uri="{FF2B5EF4-FFF2-40B4-BE49-F238E27FC236}">
                  <a16:creationId xmlns:a16="http://schemas.microsoft.com/office/drawing/2014/main" id="{F0B0043D-E442-C24C-B349-D84355A16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3430" y="1569098"/>
              <a:ext cx="674307" cy="674307"/>
            </a:xfrm>
            <a:prstGeom prst="rect">
              <a:avLst/>
            </a:prstGeom>
          </p:spPr>
        </p:pic>
        <p:pic>
          <p:nvPicPr>
            <p:cNvPr id="125" name="Graphic 124" descr="Factory outline">
              <a:extLst>
                <a:ext uri="{FF2B5EF4-FFF2-40B4-BE49-F238E27FC236}">
                  <a16:creationId xmlns:a16="http://schemas.microsoft.com/office/drawing/2014/main" id="{1353FF71-12EF-A347-89DF-9D697A738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81650" y="2229560"/>
              <a:ext cx="688711" cy="688711"/>
            </a:xfrm>
            <a:prstGeom prst="rect">
              <a:avLst/>
            </a:prstGeom>
          </p:spPr>
        </p:pic>
        <p:pic>
          <p:nvPicPr>
            <p:cNvPr id="127" name="Graphic 126" descr="Truck outline">
              <a:extLst>
                <a:ext uri="{FF2B5EF4-FFF2-40B4-BE49-F238E27FC236}">
                  <a16:creationId xmlns:a16="http://schemas.microsoft.com/office/drawing/2014/main" id="{8664302D-368D-914B-832D-596A88261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31591" y="3780343"/>
              <a:ext cx="677208" cy="677208"/>
            </a:xfrm>
            <a:prstGeom prst="rect">
              <a:avLst/>
            </a:prstGeom>
          </p:spPr>
        </p:pic>
        <p:pic>
          <p:nvPicPr>
            <p:cNvPr id="129" name="Graphic 128" descr="Box trolley outline">
              <a:extLst>
                <a:ext uri="{FF2B5EF4-FFF2-40B4-BE49-F238E27FC236}">
                  <a16:creationId xmlns:a16="http://schemas.microsoft.com/office/drawing/2014/main" id="{CFF7FA96-24B7-F04A-A547-2CA4142CF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1071" y="3156694"/>
              <a:ext cx="636786" cy="636786"/>
            </a:xfrm>
            <a:prstGeom prst="rect">
              <a:avLst/>
            </a:prstGeom>
          </p:spPr>
        </p:pic>
        <p:pic>
          <p:nvPicPr>
            <p:cNvPr id="131" name="Graphic 130" descr="World outline">
              <a:extLst>
                <a:ext uri="{FF2B5EF4-FFF2-40B4-BE49-F238E27FC236}">
                  <a16:creationId xmlns:a16="http://schemas.microsoft.com/office/drawing/2014/main" id="{5AA8F748-52B2-0344-93C5-980C6B6FC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7068" y="4418195"/>
              <a:ext cx="614729" cy="614729"/>
            </a:xfrm>
            <a:prstGeom prst="rect">
              <a:avLst/>
            </a:prstGeom>
          </p:spPr>
        </p:pic>
        <p:pic>
          <p:nvPicPr>
            <p:cNvPr id="133" name="Graphic 132" descr="Web cam outline">
              <a:extLst>
                <a:ext uri="{FF2B5EF4-FFF2-40B4-BE49-F238E27FC236}">
                  <a16:creationId xmlns:a16="http://schemas.microsoft.com/office/drawing/2014/main" id="{6273EC03-55AE-3841-8545-1E17907B7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72584" y="5109557"/>
              <a:ext cx="603695" cy="603695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2D6CE2-43D9-5946-9704-B8C321CE5971}"/>
              </a:ext>
            </a:extLst>
          </p:cNvPr>
          <p:cNvGrpSpPr/>
          <p:nvPr/>
        </p:nvGrpSpPr>
        <p:grpSpPr>
          <a:xfrm>
            <a:off x="3097894" y="4685029"/>
            <a:ext cx="2846537" cy="1237021"/>
            <a:chOff x="4984823" y="4805595"/>
            <a:chExt cx="2846537" cy="123702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C9FA343-ABBF-1D4C-8FE0-8493A2702F9A}"/>
                </a:ext>
              </a:extLst>
            </p:cNvPr>
            <p:cNvSpPr/>
            <p:nvPr/>
          </p:nvSpPr>
          <p:spPr>
            <a:xfrm>
              <a:off x="4984823" y="4805595"/>
              <a:ext cx="2846537" cy="12370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E251D90-933E-5445-AFA0-A4BD7A1DEAF8}"/>
                </a:ext>
              </a:extLst>
            </p:cNvPr>
            <p:cNvSpPr txBox="1"/>
            <p:nvPr/>
          </p:nvSpPr>
          <p:spPr>
            <a:xfrm>
              <a:off x="5071895" y="4836039"/>
              <a:ext cx="14415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/>
                <a:t>Data Lake</a:t>
              </a:r>
            </a:p>
          </p:txBody>
        </p:sp>
        <p:sp>
          <p:nvSpPr>
            <p:cNvPr id="113" name="Can 112">
              <a:extLst>
                <a:ext uri="{FF2B5EF4-FFF2-40B4-BE49-F238E27FC236}">
                  <a16:creationId xmlns:a16="http://schemas.microsoft.com/office/drawing/2014/main" id="{3D246F74-ACE6-9C42-9EF0-9498FC1C49F9}"/>
                </a:ext>
              </a:extLst>
            </p:cNvPr>
            <p:cNvSpPr/>
            <p:nvPr/>
          </p:nvSpPr>
          <p:spPr>
            <a:xfrm>
              <a:off x="5357534" y="5488145"/>
              <a:ext cx="363166" cy="436331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9" name="Graphic 138" descr="Film strip outline">
              <a:extLst>
                <a:ext uri="{FF2B5EF4-FFF2-40B4-BE49-F238E27FC236}">
                  <a16:creationId xmlns:a16="http://schemas.microsoft.com/office/drawing/2014/main" id="{6CA214CA-A14A-3847-A160-D9C7B4CE5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189985" y="5339653"/>
              <a:ext cx="636363" cy="636363"/>
            </a:xfrm>
            <a:prstGeom prst="rect">
              <a:avLst/>
            </a:prstGeom>
          </p:spPr>
        </p:pic>
        <p:pic>
          <p:nvPicPr>
            <p:cNvPr id="141" name="Graphic 140" descr="Document outline">
              <a:extLst>
                <a:ext uri="{FF2B5EF4-FFF2-40B4-BE49-F238E27FC236}">
                  <a16:creationId xmlns:a16="http://schemas.microsoft.com/office/drawing/2014/main" id="{50157F68-A283-4946-B603-C0C7A11A3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534048" y="5328187"/>
              <a:ext cx="636364" cy="636364"/>
            </a:xfrm>
            <a:prstGeom prst="rect">
              <a:avLst/>
            </a:prstGeom>
          </p:spPr>
        </p:pic>
        <p:pic>
          <p:nvPicPr>
            <p:cNvPr id="143" name="Graphic 142" descr="Binary outline">
              <a:extLst>
                <a:ext uri="{FF2B5EF4-FFF2-40B4-BE49-F238E27FC236}">
                  <a16:creationId xmlns:a16="http://schemas.microsoft.com/office/drawing/2014/main" id="{918956AD-9575-434D-AD83-2894ED378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933763" y="5394635"/>
              <a:ext cx="502035" cy="502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59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EF85A-D9E6-5D45-9CDE-04424DF2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64" y="1709235"/>
            <a:ext cx="3121773" cy="30803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6FA02-6651-E349-B457-12ECF9E3F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9" y="1720850"/>
            <a:ext cx="4044950" cy="170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026D6F-73F2-2D4B-AA39-8079245E0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037" y="1720850"/>
            <a:ext cx="4475590" cy="259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9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22010</TotalTime>
  <Words>59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BI Diagrams</vt:lpstr>
      <vt:lpstr>Modern BI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Diagrams</dc:title>
  <dc:creator>Alberto Gutierrez</dc:creator>
  <cp:lastModifiedBy>Alberto Gutierrez</cp:lastModifiedBy>
  <cp:revision>7</cp:revision>
  <dcterms:created xsi:type="dcterms:W3CDTF">2021-12-19T16:10:21Z</dcterms:created>
  <dcterms:modified xsi:type="dcterms:W3CDTF">2022-01-06T00:53:38Z</dcterms:modified>
</cp:coreProperties>
</file>